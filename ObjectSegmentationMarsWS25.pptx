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94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51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7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3" Type="http://schemas.openxmlformats.org/officeDocument/2006/relationships/image" Target="../media/image51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26" Type="http://schemas.openxmlformats.org/officeDocument/2006/relationships/image" Target="../media/image182.png"/><Relationship Id="rId3" Type="http://schemas.openxmlformats.org/officeDocument/2006/relationships/image" Target="../media/image7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Relationship Id="rId27" Type="http://schemas.openxmlformats.org/officeDocument/2006/relationships/image" Target="../media/image1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110038"/>
            <a:ext cx="6400800" cy="144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6050" y="6229350"/>
            <a:ext cx="9525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0"/>
            <a:ext cx="1219200" cy="381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76300" y="1319213"/>
            <a:ext cx="2766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FFFF"/>
                </a:solidFill>
                <a:highlight>
                  <a:srgbClr val="C2410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RESEARCH</a:t>
            </a:r>
            <a:endParaRPr lang="en-US" sz="900" dirty="0"/>
          </a:p>
        </p:txBody>
      </p:sp>
      <p:sp>
        <p:nvSpPr>
          <p:cNvPr id="9" name="Text 1"/>
          <p:cNvSpPr/>
          <p:nvPr/>
        </p:nvSpPr>
        <p:spPr>
          <a:xfrm>
            <a:off x="762000" y="1662113"/>
            <a:ext cx="1066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kern="0" spc="36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AAU Klagenfurt — WS 2025/26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762000" y="2195513"/>
            <a:ext cx="1280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b="1" kern="0" spc="-21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ObjectSegmentation</a:t>
            </a:r>
            <a:r>
              <a:rPr lang="en-US" sz="5400" b="1" kern="0" spc="-216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Mars</a:t>
            </a:r>
            <a:endParaRPr lang="en-US" sz="5400" dirty="0"/>
          </a:p>
        </p:txBody>
      </p:sp>
      <p:sp>
        <p:nvSpPr>
          <p:cNvPr id="11" name="Text 3"/>
          <p:cNvSpPr/>
          <p:nvPr/>
        </p:nvSpPr>
        <p:spPr>
          <a:xfrm>
            <a:off x="762000" y="3033713"/>
            <a:ext cx="54864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DeepLabV3-ResNet50 for per-pixel terrain classification and autonomous rover navigation.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762000" y="4414838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&amp; EVALUATION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762000" y="4605338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Pavel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4191000" y="4414838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b="1" kern="0" spc="72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PREPROCESSING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4191000" y="4605338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Timur 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762000" y="5100638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b="1" kern="0" spc="72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PREPROCESSING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62000" y="5291138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Maksym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4191000" y="5100638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WRITING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4191000" y="5291138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Mikhail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762000" y="6210300"/>
            <a:ext cx="1943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Date: 2026-02-07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3000375" y="6210300"/>
            <a:ext cx="268158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ID: WS25-MARS-04</a:t>
            </a:r>
            <a:endParaRPr lang="en-US" sz="10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6798466-144F-EA86-20E4-155C75E6A120}"/>
              </a:ext>
            </a:extLst>
          </p:cNvPr>
          <p:cNvSpPr/>
          <p:nvPr/>
        </p:nvSpPr>
        <p:spPr>
          <a:xfrm>
            <a:off x="762000" y="59055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Sven </a:t>
            </a:r>
            <a:endParaRPr lang="en-US" sz="13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9AA7176-5230-348F-4C6A-FDD47D00EE0B}"/>
              </a:ext>
            </a:extLst>
          </p:cNvPr>
          <p:cNvSpPr/>
          <p:nvPr/>
        </p:nvSpPr>
        <p:spPr>
          <a:xfrm>
            <a:off x="762000" y="5770947"/>
            <a:ext cx="2971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63" y="296242"/>
            <a:ext cx="11303250" cy="723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63" y="1316309"/>
            <a:ext cx="5533127" cy="24009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08" y="1494054"/>
            <a:ext cx="414739" cy="44332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81" y="1582927"/>
            <a:ext cx="236994" cy="2369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484" y="1316309"/>
            <a:ext cx="5533128" cy="24009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229" y="1494054"/>
            <a:ext cx="414739" cy="44332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102" y="1582927"/>
            <a:ext cx="236993" cy="23699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2229" y="2070685"/>
            <a:ext cx="148121" cy="17138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2229" y="2337302"/>
            <a:ext cx="148121" cy="1713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2229" y="2603920"/>
            <a:ext cx="148121" cy="17138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2229" y="2870538"/>
            <a:ext cx="148121" cy="17138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363" y="3954251"/>
            <a:ext cx="5533127" cy="222239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108" y="4131996"/>
            <a:ext cx="414739" cy="44332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981" y="4220869"/>
            <a:ext cx="236994" cy="23699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108" y="5310368"/>
            <a:ext cx="1192374" cy="20736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73730" y="5310368"/>
            <a:ext cx="1103501" cy="20736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36479" y="5310368"/>
            <a:ext cx="1214592" cy="20736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4484" y="3954251"/>
            <a:ext cx="5533128" cy="222239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2229" y="4131996"/>
            <a:ext cx="414739" cy="44332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1102" y="4220869"/>
            <a:ext cx="236993" cy="23699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92229" y="4693814"/>
            <a:ext cx="5177638" cy="53323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2229" y="5330735"/>
            <a:ext cx="133309" cy="15228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2229" y="5538104"/>
            <a:ext cx="133309" cy="152287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2229" y="5745473"/>
            <a:ext cx="133309" cy="152287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22108" y="296242"/>
            <a:ext cx="13350604" cy="457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622108" y="812698"/>
            <a:ext cx="13350604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500" kern="0" spc="39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STRATEGIC DIRECTION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1155343" y="1597161"/>
            <a:ext cx="2381785" cy="236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622108" y="2055873"/>
            <a:ext cx="5177637" cy="1393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**Semantic Segmentation** (per-pixel classification) on Mars surface imagery to support autonomous rover navigation. By identifying traversable vs. hazardous terrain, the project enhances mission safety and path planning efficiency.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6925464" y="1597161"/>
            <a:ext cx="2168491" cy="236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&amp; Scope</a:t>
            </a:r>
            <a:endParaRPr lang="en-US" sz="1800" dirty="0"/>
          </a:p>
        </p:txBody>
      </p:sp>
      <p:sp>
        <p:nvSpPr>
          <p:cNvPr id="32" name="Text 5"/>
          <p:cNvSpPr/>
          <p:nvPr/>
        </p:nvSpPr>
        <p:spPr>
          <a:xfrm>
            <a:off x="6409098" y="2055873"/>
            <a:ext cx="6441766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633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AI4Mars (NASA JPL)</a:t>
            </a:r>
            <a:endParaRPr lang="en-US" sz="1350" dirty="0"/>
          </a:p>
        </p:txBody>
      </p:sp>
      <p:sp>
        <p:nvSpPr>
          <p:cNvPr id="33" name="Text 6"/>
          <p:cNvSpPr/>
          <p:nvPr/>
        </p:nvSpPr>
        <p:spPr>
          <a:xfrm>
            <a:off x="6409098" y="2322490"/>
            <a:ext cx="6441766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633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Subset: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200 high-res RGB images + masks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6409098" y="2589108"/>
            <a:ext cx="6441766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633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Soil, Bedrock, Sand, Big Rock</a:t>
            </a:r>
            <a:endParaRPr lang="en-US" sz="1350" dirty="0"/>
          </a:p>
        </p:txBody>
      </p:sp>
      <p:sp>
        <p:nvSpPr>
          <p:cNvPr id="35" name="Text 8"/>
          <p:cNvSpPr/>
          <p:nvPr/>
        </p:nvSpPr>
        <p:spPr>
          <a:xfrm>
            <a:off x="6409098" y="2855726"/>
            <a:ext cx="6441766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633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80/20 Train-Validation ratio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1155343" y="4235102"/>
            <a:ext cx="2612854" cy="2369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Approach</a:t>
            </a:r>
            <a:endParaRPr lang="en-US" sz="1800" dirty="0"/>
          </a:p>
        </p:txBody>
      </p:sp>
      <p:sp>
        <p:nvSpPr>
          <p:cNvPr id="37" name="Text 10"/>
          <p:cNvSpPr/>
          <p:nvPr/>
        </p:nvSpPr>
        <p:spPr>
          <a:xfrm>
            <a:off x="622108" y="4693814"/>
            <a:ext cx="5177637" cy="5573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a pretrained **DeepLabV3** with a **ResNet-50** backbone from Torchvision.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710981" y="5310368"/>
            <a:ext cx="1430848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66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Albumentations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1962603" y="5310368"/>
            <a:ext cx="1324201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66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Scheduling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3125352" y="5310368"/>
            <a:ext cx="1457510" cy="207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66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 Optimizer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6925464" y="4235102"/>
            <a:ext cx="3821521" cy="2369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66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 &amp; Next Steps</a:t>
            </a:r>
            <a:endParaRPr lang="en-US" sz="1800" dirty="0"/>
          </a:p>
        </p:txBody>
      </p:sp>
      <p:sp>
        <p:nvSpPr>
          <p:cNvPr id="42" name="Text 15"/>
          <p:cNvSpPr/>
          <p:nvPr/>
        </p:nvSpPr>
        <p:spPr>
          <a:xfrm>
            <a:off x="6481102" y="4782687"/>
            <a:ext cx="4999892" cy="355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Augmentation and LR scheduling significantly improved model convergence.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6394286" y="5315922"/>
            <a:ext cx="6441766" cy="177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mIoU and per-class IoU metrics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6394286" y="5523291"/>
            <a:ext cx="6441766" cy="177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class-id mapping &amp; handle ignore labels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6394286" y="5730661"/>
            <a:ext cx="6441766" cy="177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true test split for evaluation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-1816287" y="6413638"/>
            <a:ext cx="13563900" cy="148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166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Propelling Mars Exploration through Advanced Computer Vision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41" y="430306"/>
            <a:ext cx="10327341" cy="7799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41" y="1640541"/>
            <a:ext cx="3251107" cy="40341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94" y="1855694"/>
            <a:ext cx="358588" cy="32272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894" y="3333750"/>
            <a:ext cx="134471" cy="1792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894" y="3898527"/>
            <a:ext cx="134471" cy="17929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894" y="4463303"/>
            <a:ext cx="134471" cy="17929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1719" y="1640541"/>
            <a:ext cx="3251247" cy="403411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6871" y="1855694"/>
            <a:ext cx="286871" cy="32272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6871" y="2608729"/>
            <a:ext cx="2820941" cy="39444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072" y="3218329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6871" y="3585882"/>
            <a:ext cx="2820941" cy="68131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1072" y="4482353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6871" y="5065059"/>
            <a:ext cx="2820941" cy="39444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49836" y="1640541"/>
            <a:ext cx="3251107" cy="403411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4989" y="1855694"/>
            <a:ext cx="251012" cy="32272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64989" y="2644588"/>
            <a:ext cx="2820801" cy="14343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64989" y="2644588"/>
            <a:ext cx="2115530" cy="14343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64989" y="3290047"/>
            <a:ext cx="2820801" cy="86061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45130" y="3487271"/>
            <a:ext cx="197224" cy="28687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64989" y="4437529"/>
            <a:ext cx="1374542" cy="28687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11248" y="4437529"/>
            <a:ext cx="1374542" cy="28687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3741" y="6033247"/>
            <a:ext cx="10327341" cy="35858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3741" y="6266330"/>
            <a:ext cx="116541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47365" y="6266330"/>
            <a:ext cx="125506" cy="1143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88894" y="430306"/>
            <a:ext cx="1213462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6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 &amp; Motivation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788894" y="959223"/>
            <a:ext cx="10112189" cy="2510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76"/>
              </a:lnSpc>
              <a:buNone/>
            </a:pPr>
            <a:r>
              <a:rPr lang="en-US" sz="1500" kern="0" spc="127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AUTONOMOUS PLANETARY EXPLORATION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1290918" y="1873624"/>
            <a:ext cx="1613647" cy="286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9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788894" y="2393576"/>
            <a:ext cx="28208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Mars rovers (Curiosity, Perseverance) face extreme navigation challenges in unstructured terrain.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030941" y="3279962"/>
            <a:ext cx="257875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Avoiding hazards like soft sand or large rocks.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1030941" y="3844738"/>
            <a:ext cx="257875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traversable paths for exploration.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1030941" y="4409515"/>
            <a:ext cx="257875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real-time, on-board terrain understanding.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4757177" y="1873624"/>
            <a:ext cx="2302137" cy="286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9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Formulation</a:t>
            </a:r>
            <a:endParaRPr lang="en-US" sz="1800" dirty="0"/>
          </a:p>
        </p:txBody>
      </p:sp>
      <p:sp>
        <p:nvSpPr>
          <p:cNvPr id="35" name="Text 8"/>
          <p:cNvSpPr/>
          <p:nvPr/>
        </p:nvSpPr>
        <p:spPr>
          <a:xfrm>
            <a:off x="4326871" y="2393576"/>
            <a:ext cx="2820941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b="1" kern="0" spc="-38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(X)</a:t>
            </a:r>
            <a:endParaRPr lang="en-US" sz="900" dirty="0"/>
          </a:p>
        </p:txBody>
      </p:sp>
      <p:sp>
        <p:nvSpPr>
          <p:cNvPr id="36" name="Text 9"/>
          <p:cNvSpPr/>
          <p:nvPr/>
        </p:nvSpPr>
        <p:spPr>
          <a:xfrm>
            <a:off x="4434448" y="2608729"/>
            <a:ext cx="3385129" cy="3944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12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 Mars Surface Images (1024×1024)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4216899" y="3729318"/>
            <a:ext cx="3040885" cy="179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12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Segmentation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4216899" y="3980329"/>
            <a:ext cx="3040885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Per-Pixel Classification</a:t>
            </a:r>
            <a:endParaRPr lang="en-US" sz="900" dirty="0"/>
          </a:p>
        </p:txBody>
      </p:sp>
      <p:sp>
        <p:nvSpPr>
          <p:cNvPr id="39" name="Text 12"/>
          <p:cNvSpPr/>
          <p:nvPr/>
        </p:nvSpPr>
        <p:spPr>
          <a:xfrm>
            <a:off x="4326871" y="4849906"/>
            <a:ext cx="2820941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129"/>
              </a:lnSpc>
              <a:buNone/>
            </a:pPr>
            <a:r>
              <a:rPr lang="en-US" sz="900" b="1" kern="0" spc="-38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(Y)</a:t>
            </a:r>
            <a:endParaRPr lang="en-US" sz="900" dirty="0"/>
          </a:p>
        </p:txBody>
      </p:sp>
      <p:sp>
        <p:nvSpPr>
          <p:cNvPr id="40" name="Text 13"/>
          <p:cNvSpPr/>
          <p:nvPr/>
        </p:nvSpPr>
        <p:spPr>
          <a:xfrm>
            <a:off x="3762683" y="5065059"/>
            <a:ext cx="3385129" cy="3944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412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Grayscale Masks (Classes {0,1,2,3})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8259436" y="1873624"/>
            <a:ext cx="2194559" cy="286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9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42" name="Text 15"/>
          <p:cNvSpPr/>
          <p:nvPr/>
        </p:nvSpPr>
        <p:spPr>
          <a:xfrm>
            <a:off x="7864989" y="2393576"/>
            <a:ext cx="1463040" cy="179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12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Mean IoU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9841706" y="2393576"/>
            <a:ext cx="1012900" cy="1792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12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≥ 75%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7864989" y="2859741"/>
            <a:ext cx="3384961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Acceptable: 65%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8008424" y="3433482"/>
            <a:ext cx="1204856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900" dirty="0"/>
          </a:p>
        </p:txBody>
      </p:sp>
      <p:sp>
        <p:nvSpPr>
          <p:cNvPr id="46" name="Text 19"/>
          <p:cNvSpPr/>
          <p:nvPr/>
        </p:nvSpPr>
        <p:spPr>
          <a:xfrm>
            <a:off x="8008424" y="3576918"/>
            <a:ext cx="1204856" cy="2510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76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 Second</a:t>
            </a:r>
            <a:endParaRPr lang="en-US" sz="1500" dirty="0"/>
          </a:p>
        </p:txBody>
      </p:sp>
      <p:sp>
        <p:nvSpPr>
          <p:cNvPr id="47" name="Text 20"/>
          <p:cNvSpPr/>
          <p:nvPr/>
        </p:nvSpPr>
        <p:spPr>
          <a:xfrm>
            <a:off x="8008424" y="3863788"/>
            <a:ext cx="3040716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Image Inference</a:t>
            </a:r>
            <a:endParaRPr lang="en-US" sz="900" dirty="0"/>
          </a:p>
        </p:txBody>
      </p:sp>
      <p:sp>
        <p:nvSpPr>
          <p:cNvPr id="48" name="Text 21"/>
          <p:cNvSpPr/>
          <p:nvPr/>
        </p:nvSpPr>
        <p:spPr>
          <a:xfrm>
            <a:off x="7813596" y="4509247"/>
            <a:ext cx="1477327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900" dirty="0"/>
          </a:p>
        </p:txBody>
      </p:sp>
      <p:sp>
        <p:nvSpPr>
          <p:cNvPr id="49" name="Text 22"/>
          <p:cNvSpPr/>
          <p:nvPr/>
        </p:nvSpPr>
        <p:spPr>
          <a:xfrm>
            <a:off x="9382966" y="4509247"/>
            <a:ext cx="1231106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9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762000" y="6248400"/>
            <a:ext cx="1990165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Colab Environment</a:t>
            </a:r>
            <a:endParaRPr lang="en-US" sz="900" dirty="0"/>
          </a:p>
        </p:txBody>
      </p:sp>
      <p:sp>
        <p:nvSpPr>
          <p:cNvPr id="51" name="Text 24"/>
          <p:cNvSpPr/>
          <p:nvPr/>
        </p:nvSpPr>
        <p:spPr>
          <a:xfrm>
            <a:off x="2644588" y="6248400"/>
            <a:ext cx="2043953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4-Class Multi-Classification</a:t>
            </a:r>
            <a:endParaRPr lang="en-US" sz="900" dirty="0"/>
          </a:p>
        </p:txBody>
      </p:sp>
      <p:sp>
        <p:nvSpPr>
          <p:cNvPr id="52" name="Text 25"/>
          <p:cNvSpPr/>
          <p:nvPr/>
        </p:nvSpPr>
        <p:spPr>
          <a:xfrm>
            <a:off x="7153835" y="6248400"/>
            <a:ext cx="4496696" cy="143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9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Constraint: No "Ignore Label" currently implemented in loss function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906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3500"/>
            <a:ext cx="4425851" cy="2590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002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981200"/>
            <a:ext cx="1908125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625" y="1981200"/>
            <a:ext cx="1908125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048000"/>
            <a:ext cx="1908125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0625" y="3048000"/>
            <a:ext cx="1908125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152900"/>
            <a:ext cx="4425851" cy="152638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4196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2151" y="1333500"/>
            <a:ext cx="6318349" cy="426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984081"/>
            <a:ext cx="3530501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6174581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30601" y="5984081"/>
            <a:ext cx="3530650" cy="83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83001" y="6174581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9850" y="5984081"/>
            <a:ext cx="3530501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2250" y="6174581"/>
            <a:ext cx="1905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381000"/>
            <a:ext cx="1325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Overview &amp; Quality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1104900" y="1562100"/>
            <a:ext cx="47623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Characteristics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914400" y="2095500"/>
            <a:ext cx="16795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00" dirty="0"/>
          </a:p>
        </p:txBody>
      </p:sp>
      <p:sp>
        <p:nvSpPr>
          <p:cNvPr id="22" name="Text 3"/>
          <p:cNvSpPr/>
          <p:nvPr/>
        </p:nvSpPr>
        <p:spPr>
          <a:xfrm>
            <a:off x="914400" y="2247900"/>
            <a:ext cx="16795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JPL (AI4Mars)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2974925" y="2095500"/>
            <a:ext cx="16795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SCOPE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2974925" y="2247900"/>
            <a:ext cx="2015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~35,000 Images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914400" y="3162300"/>
            <a:ext cx="20154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SUBSET</a:t>
            </a:r>
            <a:endParaRPr lang="en-US" sz="900" dirty="0"/>
          </a:p>
        </p:txBody>
      </p:sp>
      <p:sp>
        <p:nvSpPr>
          <p:cNvPr id="26" name="Text 7"/>
          <p:cNvSpPr/>
          <p:nvPr/>
        </p:nvSpPr>
        <p:spPr>
          <a:xfrm>
            <a:off x="914400" y="3314700"/>
            <a:ext cx="2015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Samples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2974925" y="3162300"/>
            <a:ext cx="16795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2974925" y="3314700"/>
            <a:ext cx="2015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1024 × 1024 (Raw)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1104900" y="4381500"/>
            <a:ext cx="47623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Annotation Quality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800100" y="4800600"/>
            <a:ext cx="3968651" cy="6500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approach: 9–10 crowdsourced labelers per image to reach consensus, followed by expert validation from MSL/MER mission scientists.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5530751" y="1562100"/>
            <a:ext cx="70333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Distribution Imbalance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5530751" y="1905000"/>
            <a:ext cx="58611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Percentage of total annotated pixels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990600" y="6136481"/>
            <a:ext cx="29590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RARITY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990600" y="6365081"/>
            <a:ext cx="29590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"Big Rock" class (~2%) poses a significant risk of underfitting without loss weighting.</a:t>
            </a:r>
            <a:endParaRPr lang="en-US" sz="900" dirty="0"/>
          </a:p>
        </p:txBody>
      </p:sp>
      <p:sp>
        <p:nvSpPr>
          <p:cNvPr id="35" name="Text 16"/>
          <p:cNvSpPr/>
          <p:nvPr/>
        </p:nvSpPr>
        <p:spPr>
          <a:xfrm>
            <a:off x="4787801" y="6136481"/>
            <a:ext cx="2921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 LABELS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4787801" y="6365081"/>
            <a:ext cx="29210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explicit "ignore_index" handled; rover hardware or distant areas may affect loss.</a:t>
            </a:r>
            <a:endParaRPr lang="en-US" sz="900" dirty="0"/>
          </a:p>
        </p:txBody>
      </p:sp>
      <p:sp>
        <p:nvSpPr>
          <p:cNvPr id="37" name="Text 18"/>
          <p:cNvSpPr/>
          <p:nvPr/>
        </p:nvSpPr>
        <p:spPr>
          <a:xfrm>
            <a:off x="8547050" y="6136481"/>
            <a:ext cx="2920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MAPPING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8547050" y="6365081"/>
            <a:ext cx="2920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assumes indices 0–3 for Soil, Bedrock, Sand, and Big Rock; requires verification.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145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133600"/>
            <a:ext cx="2443163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881" y="22860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5163" y="2609850"/>
            <a:ext cx="952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2813" y="2133600"/>
            <a:ext cx="2443163" cy="1104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0094" y="22860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5" y="2609850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6025" y="2133600"/>
            <a:ext cx="2443163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9019" y="22860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1588" y="2609850"/>
            <a:ext cx="952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9238" y="2133600"/>
            <a:ext cx="2443163" cy="1104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6519" y="22860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58140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000500"/>
            <a:ext cx="3530501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152900"/>
            <a:ext cx="3048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42672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2501" y="4000500"/>
            <a:ext cx="3530650" cy="723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4901" y="41529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42672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4876800"/>
            <a:ext cx="3530501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5029200"/>
            <a:ext cx="28575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" y="51435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92501" y="4876800"/>
            <a:ext cx="3530650" cy="723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4901" y="5029200"/>
            <a:ext cx="3048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21101" y="51435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7950" y="3581400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27950" y="4000500"/>
            <a:ext cx="3454301" cy="256222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56550" y="5298281"/>
            <a:ext cx="2997101" cy="578644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75625" y="5688806"/>
            <a:ext cx="1036588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838200" y="457200"/>
            <a:ext cx="1289304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&amp; Augmentation</a:t>
            </a:r>
            <a:endParaRPr lang="en-US" sz="3600" dirty="0"/>
          </a:p>
        </p:txBody>
      </p:sp>
      <p:sp>
        <p:nvSpPr>
          <p:cNvPr id="34" name="Text 1"/>
          <p:cNvSpPr/>
          <p:nvPr/>
        </p:nvSpPr>
        <p:spPr>
          <a:xfrm>
            <a:off x="838200" y="1028700"/>
            <a:ext cx="1074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STANDARDIZING INPUTS &amp; EXPANDING DIVERSITY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952500" y="1676400"/>
            <a:ext cx="109726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Preprocessing Pipeline</a:t>
            </a:r>
            <a:endParaRPr lang="en-US" sz="1800" dirty="0"/>
          </a:p>
        </p:txBody>
      </p:sp>
      <p:sp>
        <p:nvSpPr>
          <p:cNvPr id="36" name="Text 3"/>
          <p:cNvSpPr/>
          <p:nvPr/>
        </p:nvSpPr>
        <p:spPr>
          <a:xfrm>
            <a:off x="762000" y="2667000"/>
            <a:ext cx="21383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Resize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548164" y="2895600"/>
            <a:ext cx="25660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768 × 768 pixels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3605213" y="2667000"/>
            <a:ext cx="21383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3391376" y="2895600"/>
            <a:ext cx="25660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0.5 | Std 0.5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6234589" y="2667000"/>
            <a:ext cx="2566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 Conversion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6448425" y="2895600"/>
            <a:ext cx="213836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ToTensorV2()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9077801" y="2667000"/>
            <a:ext cx="2566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Mode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9077801" y="2895600"/>
            <a:ext cx="25660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evaluation only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952500" y="3543300"/>
            <a:ext cx="86562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Training-Time Augmentations</a:t>
            </a:r>
            <a:endParaRPr lang="en-US" sz="1800" dirty="0"/>
          </a:p>
        </p:txBody>
      </p:sp>
      <p:sp>
        <p:nvSpPr>
          <p:cNvPr id="45" name="Text 12"/>
          <p:cNvSpPr/>
          <p:nvPr/>
        </p:nvSpPr>
        <p:spPr>
          <a:xfrm>
            <a:off x="1219200" y="4152900"/>
            <a:ext cx="2114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Flips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1219200" y="43815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&amp; Vertical (p=0.5)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4902101" y="4152900"/>
            <a:ext cx="1543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Rotations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4902101" y="4381500"/>
            <a:ext cx="1543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90° (p=0.5)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1200150" y="5029200"/>
            <a:ext cx="2491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Affine Transforms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1200150" y="5257800"/>
            <a:ext cx="24917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0.9-1.1, Rot ±45°, Trans 6%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4902101" y="5029200"/>
            <a:ext cx="2891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Lighting Dynamics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4902101" y="5257800"/>
            <a:ext cx="28917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Brightness &amp; Contrast (p=0.5)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8470850" y="3543300"/>
            <a:ext cx="41451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Handling</a:t>
            </a:r>
            <a:endParaRPr lang="en-US" sz="1800" dirty="0"/>
          </a:p>
        </p:txBody>
      </p:sp>
      <p:sp>
        <p:nvSpPr>
          <p:cNvPr id="54" name="Text 21"/>
          <p:cNvSpPr/>
          <p:nvPr/>
        </p:nvSpPr>
        <p:spPr>
          <a:xfrm>
            <a:off x="8356550" y="4229100"/>
            <a:ext cx="29971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IMBALANCE</a:t>
            </a:r>
            <a:endParaRPr lang="en-US" sz="900" dirty="0"/>
          </a:p>
        </p:txBody>
      </p:sp>
      <p:sp>
        <p:nvSpPr>
          <p:cNvPr id="55" name="Text 22"/>
          <p:cNvSpPr/>
          <p:nvPr/>
        </p:nvSpPr>
        <p:spPr>
          <a:xfrm>
            <a:off x="8356550" y="4419600"/>
            <a:ext cx="2997101" cy="6500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class weights or focal loss implemented. Model may favor majority classes (Soil/Bedrock).</a:t>
            </a:r>
            <a:endParaRPr lang="en-US" sz="1050" dirty="0"/>
          </a:p>
        </p:txBody>
      </p:sp>
      <p:sp>
        <p:nvSpPr>
          <p:cNvPr id="56" name="Text 23"/>
          <p:cNvSpPr/>
          <p:nvPr/>
        </p:nvSpPr>
        <p:spPr>
          <a:xfrm>
            <a:off x="8356550" y="5450681"/>
            <a:ext cx="29971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LABELS</a:t>
            </a:r>
            <a:endParaRPr lang="en-US" sz="900" dirty="0"/>
          </a:p>
        </p:txBody>
      </p:sp>
      <p:sp>
        <p:nvSpPr>
          <p:cNvPr id="57" name="Text 24"/>
          <p:cNvSpPr/>
          <p:nvPr/>
        </p:nvSpPr>
        <p:spPr>
          <a:xfrm>
            <a:off x="8356550" y="5641181"/>
            <a:ext cx="2997101" cy="2357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800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2100"/>
            <a:ext cx="5372100" cy="441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907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33700"/>
            <a:ext cx="2095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02895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543300"/>
            <a:ext cx="1905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63855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152900"/>
            <a:ext cx="1809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248150"/>
            <a:ext cx="104775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562100"/>
            <a:ext cx="5372100" cy="441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790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324100"/>
            <a:ext cx="234315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8750" y="2324100"/>
            <a:ext cx="234315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314700"/>
            <a:ext cx="234315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750" y="3314700"/>
            <a:ext cx="234315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4305300"/>
            <a:ext cx="4914900" cy="1181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4958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800100" y="381000"/>
            <a:ext cx="10820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Approach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800100" y="914400"/>
            <a:ext cx="1082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kern="0" spc="30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SELECTION &amp; TRAINING PIPELINE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238250" y="1790700"/>
            <a:ext cx="29946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DeepLabV3-ResNet50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800100" y="2247900"/>
            <a:ext cx="49149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for its superior performance in semantic segmentation within unstructured Martian environments.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123950" y="2895600"/>
            <a:ext cx="3505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ASPP Module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123950" y="3162300"/>
            <a:ext cx="42062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multi-scale context to distinguish soil vs. sand.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1104900" y="3505200"/>
            <a:ext cx="34975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ResNet-50 Backbone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104900" y="3771900"/>
            <a:ext cx="34975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robust pre-trained feature extraction.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1095375" y="41148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Classifier Head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095375" y="4381500"/>
            <a:ext cx="36576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 to 4 output classes via 1x1 Convolution.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6858000" y="1790700"/>
            <a:ext cx="30746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Configuration</a:t>
            </a:r>
            <a:endParaRPr lang="en-US" sz="1800" dirty="0"/>
          </a:p>
        </p:txBody>
      </p:sp>
      <p:sp>
        <p:nvSpPr>
          <p:cNvPr id="31" name="Text 11"/>
          <p:cNvSpPr/>
          <p:nvPr/>
        </p:nvSpPr>
        <p:spPr>
          <a:xfrm>
            <a:off x="6629400" y="2476500"/>
            <a:ext cx="20383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6629400" y="2667000"/>
            <a:ext cx="2446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Cross-Entropy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9201150" y="2476500"/>
            <a:ext cx="20383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OPTIMIZER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9201150" y="2667000"/>
            <a:ext cx="2446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 (2e-4)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6629400" y="3467100"/>
            <a:ext cx="20383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EPOCHS</a:t>
            </a:r>
            <a:endParaRPr lang="en-US" sz="900" dirty="0"/>
          </a:p>
        </p:txBody>
      </p:sp>
      <p:sp>
        <p:nvSpPr>
          <p:cNvPr id="36" name="Text 16"/>
          <p:cNvSpPr/>
          <p:nvPr/>
        </p:nvSpPr>
        <p:spPr>
          <a:xfrm>
            <a:off x="6629400" y="3657600"/>
            <a:ext cx="2038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9201150" y="3467100"/>
            <a:ext cx="20383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38" name="Text 18"/>
          <p:cNvSpPr/>
          <p:nvPr/>
        </p:nvSpPr>
        <p:spPr>
          <a:xfrm>
            <a:off x="9201150" y="3657600"/>
            <a:ext cx="2038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39" name="Text 19"/>
          <p:cNvSpPr/>
          <p:nvPr/>
        </p:nvSpPr>
        <p:spPr>
          <a:xfrm>
            <a:off x="6858000" y="4457700"/>
            <a:ext cx="2846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Scheduler: ReduceLROnPlateau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6629400" y="4762500"/>
            <a:ext cx="461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 (Validation Loss)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6629400" y="4953000"/>
            <a:ext cx="461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0.5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6629400" y="5143500"/>
            <a:ext cx="461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Patience: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 Epochs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571500" y="6286500"/>
            <a:ext cx="3337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Mars Terrain Semantic Segmentation Project</a:t>
            </a:r>
            <a:endParaRPr lang="en-US" sz="1050" dirty="0"/>
          </a:p>
        </p:txBody>
      </p:sp>
      <p:sp>
        <p:nvSpPr>
          <p:cNvPr id="44" name="Text 24"/>
          <p:cNvSpPr/>
          <p:nvPr/>
        </p:nvSpPr>
        <p:spPr>
          <a:xfrm>
            <a:off x="9227790" y="6286500"/>
            <a:ext cx="28712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TECHNOLOGICAL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36" y="325024"/>
            <a:ext cx="11216872" cy="7497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36" y="1464765"/>
            <a:ext cx="3565611" cy="409110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50" y="1659779"/>
            <a:ext cx="422531" cy="472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57" y="1757286"/>
            <a:ext cx="227517" cy="26001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50" y="2327094"/>
            <a:ext cx="3175583" cy="6175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50" y="3074648"/>
            <a:ext cx="3175583" cy="8125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550" y="4017217"/>
            <a:ext cx="3175583" cy="58504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3166" y="1464765"/>
            <a:ext cx="3565612" cy="409110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180" y="1659779"/>
            <a:ext cx="422531" cy="472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5687" y="1757286"/>
            <a:ext cx="227516" cy="26001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180" y="2554610"/>
            <a:ext cx="2540390" cy="26001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70" y="2554610"/>
            <a:ext cx="635066" cy="26001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8180" y="3237160"/>
            <a:ext cx="130010" cy="13318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08180" y="3659691"/>
            <a:ext cx="130010" cy="13318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08180" y="4082221"/>
            <a:ext cx="130010" cy="13318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8796" y="1464765"/>
            <a:ext cx="3565611" cy="409110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3810" y="1659779"/>
            <a:ext cx="422531" cy="472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1318" y="1757286"/>
            <a:ext cx="227516" cy="26001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33810" y="2327094"/>
            <a:ext cx="3175583" cy="39002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33810" y="3302165"/>
            <a:ext cx="1555289" cy="272842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54105" y="3302165"/>
            <a:ext cx="1555289" cy="27284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33810" y="3640012"/>
            <a:ext cx="1555289" cy="27284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54105" y="3640012"/>
            <a:ext cx="1555289" cy="272842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7536" y="5815893"/>
            <a:ext cx="11216872" cy="71708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7545" y="6044425"/>
            <a:ext cx="227517" cy="260019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82550" y="325024"/>
            <a:ext cx="13226229" cy="457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Methodology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682550" y="847220"/>
            <a:ext cx="13226229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91"/>
              </a:lnSpc>
              <a:buNone/>
            </a:pPr>
            <a:r>
              <a:rPr lang="en-US" sz="1500" kern="0" spc="35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FRAMEWORK, STRATEGY &amp; QUALITATIVE INSPECTION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235090" y="1765920"/>
            <a:ext cx="2593689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47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Framework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682550" y="2327094"/>
            <a:ext cx="3175583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682550" y="2489605"/>
            <a:ext cx="3810699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91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mIoU (Mean Intersection over Union)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682550" y="2717122"/>
            <a:ext cx="3810699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≥ 75% | Threshold: 65%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682550" y="3074648"/>
            <a:ext cx="3810699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METRICS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492050" y="3269662"/>
            <a:ext cx="4039299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8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Per-class IoU (Soil, Bedrock, etc.)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492050" y="3464676"/>
            <a:ext cx="4039299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8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Dice Coefficient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92050" y="3659691"/>
            <a:ext cx="3366083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28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Pixel Accuracy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780057" y="4017217"/>
            <a:ext cx="3175583" cy="5850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Status: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training/val loss logged per epoch. Segmentation metrics discussed but not yet implemented.</a:t>
            </a:r>
            <a:endParaRPr lang="en-US" sz="900" dirty="0"/>
          </a:p>
        </p:txBody>
      </p:sp>
      <p:sp>
        <p:nvSpPr>
          <p:cNvPr id="39" name="Text 11"/>
          <p:cNvSpPr/>
          <p:nvPr/>
        </p:nvSpPr>
        <p:spPr>
          <a:xfrm>
            <a:off x="5060721" y="1765920"/>
            <a:ext cx="2554686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47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Strategy</a:t>
            </a:r>
            <a:endParaRPr lang="en-US" sz="1800" dirty="0"/>
          </a:p>
        </p:txBody>
      </p:sp>
      <p:sp>
        <p:nvSpPr>
          <p:cNvPr id="40" name="Text 12"/>
          <p:cNvSpPr/>
          <p:nvPr/>
        </p:nvSpPr>
        <p:spPr>
          <a:xfrm>
            <a:off x="4508180" y="2327094"/>
            <a:ext cx="3810700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SUBSET SPLIT (N=200)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5524133" y="2554610"/>
            <a:ext cx="2540390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-3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(160)</a:t>
            </a:r>
            <a:endParaRPr lang="en-US" sz="750" dirty="0"/>
          </a:p>
        </p:txBody>
      </p:sp>
      <p:sp>
        <p:nvSpPr>
          <p:cNvPr id="42" name="Text 14"/>
          <p:cNvSpPr/>
          <p:nvPr/>
        </p:nvSpPr>
        <p:spPr>
          <a:xfrm>
            <a:off x="7177945" y="2554610"/>
            <a:ext cx="762079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-3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 (40)</a:t>
            </a:r>
            <a:endParaRPr lang="en-US" sz="750" dirty="0"/>
          </a:p>
        </p:txBody>
      </p:sp>
      <p:sp>
        <p:nvSpPr>
          <p:cNvPr id="43" name="Text 15"/>
          <p:cNvSpPr/>
          <p:nvPr/>
        </p:nvSpPr>
        <p:spPr>
          <a:xfrm>
            <a:off x="4508180" y="2879634"/>
            <a:ext cx="1111581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Training Set</a:t>
            </a:r>
            <a:endParaRPr lang="en-US" sz="900" dirty="0"/>
          </a:p>
        </p:txBody>
      </p:sp>
      <p:sp>
        <p:nvSpPr>
          <p:cNvPr id="44" name="Text 16"/>
          <p:cNvSpPr/>
          <p:nvPr/>
        </p:nvSpPr>
        <p:spPr>
          <a:xfrm>
            <a:off x="6659939" y="2879634"/>
            <a:ext cx="1228590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Validation Set</a:t>
            </a:r>
            <a:endParaRPr lang="en-US" sz="900" dirty="0"/>
          </a:p>
        </p:txBody>
      </p:sp>
      <p:sp>
        <p:nvSpPr>
          <p:cNvPr id="45" name="Text 17"/>
          <p:cNvSpPr/>
          <p:nvPr/>
        </p:nvSpPr>
        <p:spPr>
          <a:xfrm>
            <a:off x="4703195" y="3204658"/>
            <a:ext cx="2980569" cy="3250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index-based split on the first 200 images.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4703195" y="3627188"/>
            <a:ext cx="2980569" cy="32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random shuffling or k-fold applied; potential for sampling bias.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4703195" y="4049719"/>
            <a:ext cx="3334743" cy="162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test set (unseen data) not yet defined.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8886351" y="1765920"/>
            <a:ext cx="2535185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47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Analysis Plan</a:t>
            </a:r>
            <a:endParaRPr lang="en-US" sz="1800" dirty="0"/>
          </a:p>
        </p:txBody>
      </p:sp>
      <p:sp>
        <p:nvSpPr>
          <p:cNvPr id="49" name="Text 21"/>
          <p:cNvSpPr/>
          <p:nvPr/>
        </p:nvSpPr>
        <p:spPr>
          <a:xfrm>
            <a:off x="8463820" y="2327094"/>
            <a:ext cx="3810700" cy="3900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visualize_sample</a:t>
            </a: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(model, dataset)</a:t>
            </a:r>
            <a:endParaRPr lang="en-US" sz="900" dirty="0"/>
          </a:p>
        </p:txBody>
      </p:sp>
      <p:sp>
        <p:nvSpPr>
          <p:cNvPr id="50" name="Text 22"/>
          <p:cNvSpPr/>
          <p:nvPr/>
        </p:nvSpPr>
        <p:spPr>
          <a:xfrm>
            <a:off x="8333810" y="2847131"/>
            <a:ext cx="3175583" cy="32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inspection via side-by-side comparison:</a:t>
            </a:r>
            <a:endParaRPr lang="en-US" sz="1050" dirty="0"/>
          </a:p>
        </p:txBody>
      </p:sp>
      <p:sp>
        <p:nvSpPr>
          <p:cNvPr id="51" name="Text 23"/>
          <p:cNvSpPr/>
          <p:nvPr/>
        </p:nvSpPr>
        <p:spPr>
          <a:xfrm>
            <a:off x="8333810" y="3302165"/>
            <a:ext cx="1555289" cy="272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RGB</a:t>
            </a:r>
            <a:endParaRPr lang="en-US" sz="750" dirty="0"/>
          </a:p>
        </p:txBody>
      </p:sp>
      <p:sp>
        <p:nvSpPr>
          <p:cNvPr id="52" name="Text 24"/>
          <p:cNvSpPr/>
          <p:nvPr/>
        </p:nvSpPr>
        <p:spPr>
          <a:xfrm>
            <a:off x="9798576" y="3302165"/>
            <a:ext cx="1866347" cy="272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TRUTH</a:t>
            </a:r>
            <a:endParaRPr lang="en-US" sz="750" dirty="0"/>
          </a:p>
        </p:txBody>
      </p:sp>
      <p:sp>
        <p:nvSpPr>
          <p:cNvPr id="53" name="Text 25"/>
          <p:cNvSpPr/>
          <p:nvPr/>
        </p:nvSpPr>
        <p:spPr>
          <a:xfrm>
            <a:off x="8178282" y="3640012"/>
            <a:ext cx="1866347" cy="272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MASK</a:t>
            </a:r>
            <a:endParaRPr lang="en-US" sz="750" dirty="0"/>
          </a:p>
        </p:txBody>
      </p:sp>
      <p:sp>
        <p:nvSpPr>
          <p:cNvPr id="54" name="Text 26"/>
          <p:cNvSpPr/>
          <p:nvPr/>
        </p:nvSpPr>
        <p:spPr>
          <a:xfrm>
            <a:off x="9954105" y="3640012"/>
            <a:ext cx="1555289" cy="272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55" name="Text 27"/>
          <p:cNvSpPr/>
          <p:nvPr/>
        </p:nvSpPr>
        <p:spPr>
          <a:xfrm>
            <a:off x="8333810" y="4042863"/>
            <a:ext cx="3810700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FAILURE MODES:</a:t>
            </a:r>
            <a:endParaRPr lang="en-US" sz="900" dirty="0"/>
          </a:p>
        </p:txBody>
      </p:sp>
      <p:sp>
        <p:nvSpPr>
          <p:cNvPr id="56" name="Text 28"/>
          <p:cNvSpPr/>
          <p:nvPr/>
        </p:nvSpPr>
        <p:spPr>
          <a:xfrm>
            <a:off x="8143310" y="4205375"/>
            <a:ext cx="4039300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024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Misclassification of rare "Big Rock" class</a:t>
            </a:r>
            <a:endParaRPr lang="en-US" sz="900" dirty="0"/>
          </a:p>
        </p:txBody>
      </p:sp>
      <p:sp>
        <p:nvSpPr>
          <p:cNvPr id="57" name="Text 29"/>
          <p:cNvSpPr/>
          <p:nvPr/>
        </p:nvSpPr>
        <p:spPr>
          <a:xfrm>
            <a:off x="8143310" y="4367887"/>
            <a:ext cx="4039300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024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Boundary inaccuracies in texture-similar areas</a:t>
            </a:r>
            <a:endParaRPr lang="en-US" sz="900" dirty="0"/>
          </a:p>
        </p:txBody>
      </p:sp>
      <p:sp>
        <p:nvSpPr>
          <p:cNvPr id="58" name="Text 30"/>
          <p:cNvSpPr/>
          <p:nvPr/>
        </p:nvSpPr>
        <p:spPr>
          <a:xfrm>
            <a:off x="8143310" y="4530399"/>
            <a:ext cx="4039300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024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Performance in shadowed regions</a:t>
            </a:r>
            <a:endParaRPr lang="en-US" sz="900" dirty="0"/>
          </a:p>
        </p:txBody>
      </p:sp>
      <p:sp>
        <p:nvSpPr>
          <p:cNvPr id="59" name="Text 31"/>
          <p:cNvSpPr/>
          <p:nvPr/>
        </p:nvSpPr>
        <p:spPr>
          <a:xfrm>
            <a:off x="975071" y="5945902"/>
            <a:ext cx="1261244" cy="4570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Limitation:</a:t>
            </a:r>
            <a:endParaRPr lang="en-US" sz="1200" dirty="0"/>
          </a:p>
        </p:txBody>
      </p:sp>
      <p:sp>
        <p:nvSpPr>
          <p:cNvPr id="60" name="Text 32"/>
          <p:cNvSpPr/>
          <p:nvPr/>
        </p:nvSpPr>
        <p:spPr>
          <a:xfrm>
            <a:off x="2301320" y="5945902"/>
            <a:ext cx="7324079" cy="4570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notebook lacks quantitative evaluation metrics (mIoU/Dice), preventing a final success assessment.</a:t>
            </a:r>
            <a:endParaRPr lang="en-US" sz="1200" dirty="0"/>
          </a:p>
        </p:txBody>
      </p:sp>
      <p:sp>
        <p:nvSpPr>
          <p:cNvPr id="61" name="Text 33"/>
          <p:cNvSpPr/>
          <p:nvPr/>
        </p:nvSpPr>
        <p:spPr>
          <a:xfrm>
            <a:off x="9625399" y="6044425"/>
            <a:ext cx="1948999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kern="0" spc="84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PENDING METRIC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4800"/>
            <a:ext cx="11277600" cy="7010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49680"/>
            <a:ext cx="11277600" cy="12496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432560"/>
            <a:ext cx="228600" cy="2438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737360"/>
            <a:ext cx="3515320" cy="5791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280" y="1737360"/>
            <a:ext cx="3515321" cy="5791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6481" y="1737360"/>
            <a:ext cx="3515439" cy="5791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682240"/>
            <a:ext cx="5547360" cy="1371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2865120"/>
            <a:ext cx="213360" cy="21336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215640"/>
            <a:ext cx="13716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3459480"/>
            <a:ext cx="13716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703320"/>
            <a:ext cx="13716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7440" y="2682240"/>
            <a:ext cx="5547360" cy="1371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0320" y="2865120"/>
            <a:ext cx="190500" cy="21336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0320" y="321564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70320" y="345948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0320" y="370332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236720"/>
            <a:ext cx="11277600" cy="150876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" y="4419600"/>
            <a:ext cx="167640" cy="21336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" y="4754880"/>
            <a:ext cx="3342680" cy="80772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04680" y="5025390"/>
            <a:ext cx="198120" cy="24384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24720" y="4754880"/>
            <a:ext cx="3342680" cy="80772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9320" y="5025390"/>
            <a:ext cx="198120" cy="24384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09359" y="4754880"/>
            <a:ext cx="3342680" cy="80772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40080" y="304800"/>
            <a:ext cx="1331366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Ablations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640080" y="792480"/>
            <a:ext cx="13313665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500" kern="0" spc="38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ANALYSIS &amp; ARCHITECTURAL REFINEMENTS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990600" y="1432560"/>
            <a:ext cx="2980944" cy="243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Summary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762000" y="1859280"/>
            <a:ext cx="3271480" cy="121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</a:t>
            </a:r>
            <a:endParaRPr lang="en-US" sz="900" dirty="0"/>
          </a:p>
        </p:txBody>
      </p:sp>
      <p:sp>
        <p:nvSpPr>
          <p:cNvPr id="30" name="Text 4"/>
          <p:cNvSpPr/>
          <p:nvPr/>
        </p:nvSpPr>
        <p:spPr>
          <a:xfrm>
            <a:off x="434852" y="1981200"/>
            <a:ext cx="3925776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350" b="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mIoU Not Logged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4460200" y="1859280"/>
            <a:ext cx="3271481" cy="121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METRIC</a:t>
            </a:r>
            <a:endParaRPr lang="en-US" sz="900" dirty="0"/>
          </a:p>
        </p:txBody>
      </p:sp>
      <p:sp>
        <p:nvSpPr>
          <p:cNvPr id="32" name="Text 6"/>
          <p:cNvSpPr/>
          <p:nvPr/>
        </p:nvSpPr>
        <p:spPr>
          <a:xfrm>
            <a:off x="4133052" y="1981200"/>
            <a:ext cx="3925777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350" b="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Dice/Pixel Acc. Missing</a:t>
            </a:r>
            <a:endParaRPr lang="en-US" sz="1350" dirty="0"/>
          </a:p>
        </p:txBody>
      </p:sp>
      <p:sp>
        <p:nvSpPr>
          <p:cNvPr id="33" name="Text 7"/>
          <p:cNvSpPr/>
          <p:nvPr/>
        </p:nvSpPr>
        <p:spPr>
          <a:xfrm>
            <a:off x="8158401" y="1859280"/>
            <a:ext cx="3271599" cy="121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6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TREND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7831241" y="1981200"/>
            <a:ext cx="3925919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350" b="1" i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Convergence Achieved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944880" y="2865120"/>
            <a:ext cx="2240280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Success</a:t>
            </a:r>
            <a:endParaRPr lang="en-US" sz="1500" dirty="0"/>
          </a:p>
        </p:txBody>
      </p:sp>
      <p:sp>
        <p:nvSpPr>
          <p:cNvPr id="36" name="Text 10"/>
          <p:cNvSpPr/>
          <p:nvPr/>
        </p:nvSpPr>
        <p:spPr>
          <a:xfrm>
            <a:off x="647700" y="3200400"/>
            <a:ext cx="6446520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performance on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Bedrock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647700" y="3444240"/>
            <a:ext cx="6446520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segmentation boundaries in well-lit areas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647700" y="3688080"/>
            <a:ext cx="6446520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feature extraction via ResNet-50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652260" y="2865120"/>
            <a:ext cx="1581912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Modes</a:t>
            </a:r>
            <a:endParaRPr lang="en-US" sz="1500" dirty="0"/>
          </a:p>
        </p:txBody>
      </p:sp>
      <p:sp>
        <p:nvSpPr>
          <p:cNvPr id="40" name="Text 14"/>
          <p:cNvSpPr/>
          <p:nvPr/>
        </p:nvSpPr>
        <p:spPr>
          <a:xfrm>
            <a:off x="6355080" y="3200400"/>
            <a:ext cx="6446521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Struggles with rare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Rock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355080" y="3444240"/>
            <a:ext cx="6446521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 boundaries at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Sand/Soil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edges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6355080" y="3688080"/>
            <a:ext cx="6446521" cy="182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handling of shadowed regions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99160" y="4419600"/>
            <a:ext cx="3895344" cy="213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Ablation Study: Key Improvements</a:t>
            </a:r>
            <a:endParaRPr lang="en-US" sz="1500" dirty="0"/>
          </a:p>
        </p:txBody>
      </p:sp>
      <p:sp>
        <p:nvSpPr>
          <p:cNvPr id="44" name="Text 18"/>
          <p:cNvSpPr/>
          <p:nvPr/>
        </p:nvSpPr>
        <p:spPr>
          <a:xfrm>
            <a:off x="762000" y="4876800"/>
            <a:ext cx="37186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Reintroduced Augmentations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762000" y="5135880"/>
            <a:ext cx="3098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Horizontal/Vertical Flips, 90° Rotations, Affine &amp; Brightness/Contrast.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4546640" y="4876800"/>
            <a:ext cx="37186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Rate Scheduling</a:t>
            </a:r>
            <a:endParaRPr lang="en-US" sz="1200" dirty="0"/>
          </a:p>
        </p:txBody>
      </p:sp>
      <p:sp>
        <p:nvSpPr>
          <p:cNvPr id="47" name="Text 21"/>
          <p:cNvSpPr/>
          <p:nvPr/>
        </p:nvSpPr>
        <p:spPr>
          <a:xfrm>
            <a:off x="4546640" y="5135880"/>
            <a:ext cx="3098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ReduceLROnPlateau (mode='min', factor=0.5, patience=3) stepped on val loss.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8331279" y="4876800"/>
            <a:ext cx="30988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200" dirty="0"/>
          </a:p>
        </p:txBody>
      </p:sp>
      <p:sp>
        <p:nvSpPr>
          <p:cNvPr id="49" name="Text 23"/>
          <p:cNvSpPr/>
          <p:nvPr/>
        </p:nvSpPr>
        <p:spPr>
          <a:xfrm>
            <a:off x="8331279" y="5135880"/>
            <a:ext cx="30988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FFF7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model convergence and robustness to lighting variations.</a:t>
            </a:r>
            <a:endParaRPr lang="en-US" sz="1050" dirty="0"/>
          </a:p>
        </p:txBody>
      </p:sp>
      <p:sp>
        <p:nvSpPr>
          <p:cNvPr id="50" name="Text 24"/>
          <p:cNvSpPr/>
          <p:nvPr/>
        </p:nvSpPr>
        <p:spPr>
          <a:xfrm>
            <a:off x="-1798320" y="6431280"/>
            <a:ext cx="13533120" cy="121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96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Quantitative impact is qualitative assessment due to lack of logged mIoU values.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800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2100"/>
            <a:ext cx="3530501" cy="4914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809750"/>
            <a:ext cx="428625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924050"/>
            <a:ext cx="200025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00100" y="381000"/>
            <a:ext cx="12984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&amp; Trade-offs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800100" y="914400"/>
            <a:ext cx="12984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kern="0" spc="30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ANALYSIS OF MODEL PERFORMANCE AND DEPLOYMENT CONSTRAINTS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1381125" y="1790700"/>
            <a:ext cx="2492276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Effectiveness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800100" y="2590800"/>
            <a:ext cx="3073301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Multi-scale Context: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DeepLabV3's ASPP module effectively distinguished subtle texture differences (e.g., Bedrock vs. Sand).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800100" y="3810000"/>
            <a:ext cx="3073301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Stability: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1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56" y="312437"/>
            <a:ext cx="11254579" cy="73837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56" y="1314922"/>
            <a:ext cx="187462" cy="19039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56" y="1644446"/>
            <a:ext cx="2555884" cy="65611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9515" y="1896348"/>
            <a:ext cx="93731" cy="15231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8221" y="1644446"/>
            <a:ext cx="2555884" cy="65611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9080" y="1896348"/>
            <a:ext cx="93731" cy="15231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786" y="1644446"/>
            <a:ext cx="2555884" cy="65611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8645" y="1896348"/>
            <a:ext cx="93731" cy="15231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7351" y="1644446"/>
            <a:ext cx="2555885" cy="6561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56" y="2613002"/>
            <a:ext cx="5471071" cy="346390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118" y="2800464"/>
            <a:ext cx="5096146" cy="31243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118" y="2814621"/>
            <a:ext cx="210895" cy="1903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118" y="3331607"/>
            <a:ext cx="281194" cy="35356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606" y="3425339"/>
            <a:ext cx="156219" cy="15231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118" y="3964415"/>
            <a:ext cx="281194" cy="35356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606" y="4058146"/>
            <a:ext cx="156219" cy="15231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2164" y="2613002"/>
            <a:ext cx="5471071" cy="346390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9627" y="2800464"/>
            <a:ext cx="5096146" cy="312437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9627" y="2814621"/>
            <a:ext cx="187462" cy="1903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9627" y="3300364"/>
            <a:ext cx="5096146" cy="41605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3358" y="3398977"/>
            <a:ext cx="148408" cy="218706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9627" y="3841393"/>
            <a:ext cx="5096146" cy="416054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3358" y="3940006"/>
            <a:ext cx="148408" cy="218706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9627" y="4382422"/>
            <a:ext cx="5096146" cy="41605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3358" y="4481035"/>
            <a:ext cx="148408" cy="218706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39627" y="4923451"/>
            <a:ext cx="5096146" cy="416054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33358" y="5022064"/>
            <a:ext cx="148408" cy="218706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8656" y="6264369"/>
            <a:ext cx="11254579" cy="281194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56118" y="312437"/>
            <a:ext cx="13280541" cy="457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&amp; Next Steps</a:t>
            </a:r>
            <a:endParaRPr lang="en-US" sz="3600" dirty="0"/>
          </a:p>
        </p:txBody>
      </p:sp>
      <p:sp>
        <p:nvSpPr>
          <p:cNvPr id="32" name="Text 1"/>
          <p:cNvSpPr/>
          <p:nvPr/>
        </p:nvSpPr>
        <p:spPr>
          <a:xfrm>
            <a:off x="656118" y="832109"/>
            <a:ext cx="11067117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22"/>
              </a:lnSpc>
              <a:buNone/>
            </a:pPr>
            <a:r>
              <a:rPr lang="en-US" sz="1500" kern="0" spc="37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ENGINEERING &amp; PROJECT ROADMAP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749850" y="1300764"/>
            <a:ext cx="11254579" cy="218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Inference Pipeline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562387" y="1738177"/>
            <a:ext cx="2368422" cy="124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900" dirty="0"/>
          </a:p>
        </p:txBody>
      </p:sp>
      <p:sp>
        <p:nvSpPr>
          <p:cNvPr id="35" name="Text 4"/>
          <p:cNvSpPr/>
          <p:nvPr/>
        </p:nvSpPr>
        <p:spPr>
          <a:xfrm>
            <a:off x="562387" y="1894396"/>
            <a:ext cx="2368422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Resize 768px
&amp; Normalize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3461952" y="1738177"/>
            <a:ext cx="2368421" cy="124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6"/>
          <p:cNvSpPr/>
          <p:nvPr/>
        </p:nvSpPr>
        <p:spPr>
          <a:xfrm>
            <a:off x="3461952" y="1894396"/>
            <a:ext cx="2368421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DeepLabV3
Forward Pass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361518" y="1738177"/>
            <a:ext cx="2368421" cy="124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900" dirty="0"/>
          </a:p>
        </p:txBody>
      </p:sp>
      <p:sp>
        <p:nvSpPr>
          <p:cNvPr id="39" name="Text 8"/>
          <p:cNvSpPr/>
          <p:nvPr/>
        </p:nvSpPr>
        <p:spPr>
          <a:xfrm>
            <a:off x="6361518" y="1894396"/>
            <a:ext cx="2368421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Argmax
Classification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9261082" y="1738177"/>
            <a:ext cx="2368422" cy="124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84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900" dirty="0"/>
          </a:p>
        </p:txBody>
      </p:sp>
      <p:sp>
        <p:nvSpPr>
          <p:cNvPr id="41" name="Text 10"/>
          <p:cNvSpPr/>
          <p:nvPr/>
        </p:nvSpPr>
        <p:spPr>
          <a:xfrm>
            <a:off x="9261082" y="1894396"/>
            <a:ext cx="2368422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 Smoothing
&amp; Latency &lt; 1s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60745" y="2800464"/>
            <a:ext cx="6115375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&amp; Maintenance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1062287" y="3300364"/>
            <a:ext cx="4678749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Tracking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1062287" y="3528956"/>
            <a:ext cx="5614499" cy="2167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mIoU drift. Trigger retraining if mIoU drops &gt; 5%.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1062287" y="3933171"/>
            <a:ext cx="4689978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Retraining Plan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1062287" y="4161763"/>
            <a:ext cx="4689978" cy="4335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ingestion of new Perseverance rover imagery to handle domain shift.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6720820" y="2800464"/>
            <a:ext cx="6115375" cy="312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Readiness Tasks</a:t>
            </a:r>
            <a:endParaRPr lang="en-US" sz="1500" dirty="0"/>
          </a:p>
        </p:txBody>
      </p:sp>
      <p:sp>
        <p:nvSpPr>
          <p:cNvPr id="48" name="Text 17"/>
          <p:cNvSpPr/>
          <p:nvPr/>
        </p:nvSpPr>
        <p:spPr>
          <a:xfrm>
            <a:off x="6806740" y="3394095"/>
            <a:ext cx="3468055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mIoU &amp; Per-Class IoU metrics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806740" y="3935124"/>
            <a:ext cx="3177488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Class-ID Mapping consistency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806740" y="4476153"/>
            <a:ext cx="3842979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"True Test Set" from unseen missions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6806740" y="5017182"/>
            <a:ext cx="3477428" cy="228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'ignore_index' for masked regions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468656" y="6404965"/>
            <a:ext cx="4977127" cy="124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98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Target Hardware: NVIDIA RTX 3090/Jetson Orin for On-Rover Deployment</a:t>
            </a:r>
            <a:endParaRPr lang="en-US" sz="900" dirty="0"/>
          </a:p>
        </p:txBody>
      </p:sp>
      <p:sp>
        <p:nvSpPr>
          <p:cNvPr id="53" name="Text 22"/>
          <p:cNvSpPr/>
          <p:nvPr/>
        </p:nvSpPr>
        <p:spPr>
          <a:xfrm>
            <a:off x="9230693" y="6389344"/>
            <a:ext cx="2991051" cy="1562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30"/>
              </a:lnSpc>
              <a:buNone/>
            </a:pPr>
            <a:r>
              <a:rPr lang="en-US" sz="1050" b="1" kern="0" spc="102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OPERATIONALIZATION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61" y="447261"/>
            <a:ext cx="11297413" cy="83989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61" y="1644965"/>
            <a:ext cx="5469744" cy="425887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83504"/>
            <a:ext cx="253448" cy="26835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397854"/>
            <a:ext cx="149087" cy="1523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83990"/>
            <a:ext cx="149087" cy="1523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70125"/>
            <a:ext cx="149087" cy="1523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814" y="1644965"/>
            <a:ext cx="5469860" cy="425887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3353" y="1883504"/>
            <a:ext cx="283265" cy="26835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3353" y="2397854"/>
            <a:ext cx="149087" cy="15234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3353" y="3048246"/>
            <a:ext cx="149087" cy="15234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3353" y="3698638"/>
            <a:ext cx="149087" cy="15234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3353" y="4349030"/>
            <a:ext cx="149087" cy="152348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26165" y="447261"/>
            <a:ext cx="11118509" cy="571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kern="0" spc="-11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4500" dirty="0"/>
          </a:p>
        </p:txBody>
      </p:sp>
      <p:sp>
        <p:nvSpPr>
          <p:cNvPr id="16" name="Text 1"/>
          <p:cNvSpPr/>
          <p:nvPr/>
        </p:nvSpPr>
        <p:spPr>
          <a:xfrm>
            <a:off x="626165" y="1078434"/>
            <a:ext cx="13342210" cy="208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3"/>
              </a:lnSpc>
              <a:buNone/>
            </a:pPr>
            <a:r>
              <a:rPr lang="en-US" sz="1500" b="1" kern="0" spc="153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PROOF-OF-CONCEPT TO MISSION READINESS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058517" y="1883504"/>
            <a:ext cx="2450990" cy="268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13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Outcomes</a:t>
            </a:r>
            <a:endParaRPr lang="en-US" sz="2250" dirty="0"/>
          </a:p>
        </p:txBody>
      </p:sp>
      <p:sp>
        <p:nvSpPr>
          <p:cNvPr id="18" name="Text 3"/>
          <p:cNvSpPr/>
          <p:nvPr/>
        </p:nvSpPr>
        <p:spPr>
          <a:xfrm>
            <a:off x="954157" y="2330765"/>
            <a:ext cx="4724309" cy="70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Viable Pipeline:</a:t>
            </a: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Established a robust end-to-end semantic segmentation workflow using DeepLabV3-ResNet50.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954157" y="3216900"/>
            <a:ext cx="4724309" cy="70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Robustness:</a:t>
            </a: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Reintroduced augmentations and LR scheduling, significantly improving training convergence.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954157" y="4103036"/>
            <a:ext cx="4724309" cy="70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Prototype:</a:t>
            </a: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processed AI4Mars imagery, identifying primary classes like Soil and Bedrock.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915888" y="1883504"/>
            <a:ext cx="3291840" cy="268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1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to Deployment</a:t>
            </a:r>
            <a:endParaRPr lang="en-US" sz="2250" dirty="0"/>
          </a:p>
        </p:txBody>
      </p:sp>
      <p:sp>
        <p:nvSpPr>
          <p:cNvPr id="22" name="Text 7"/>
          <p:cNvSpPr/>
          <p:nvPr/>
        </p:nvSpPr>
        <p:spPr>
          <a:xfrm>
            <a:off x="6781709" y="2330765"/>
            <a:ext cx="4724426" cy="471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Rigor: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mIoU, per-class IoU, and Dice metrics to meet the ≥75% success threshold.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781709" y="2981157"/>
            <a:ext cx="4724426" cy="471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Optimization: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Address inference latency for resource-constrained onboard rover systems.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781709" y="3631549"/>
            <a:ext cx="4724426" cy="471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Generalization: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Expand dataset to include Perseverance mission data to combat domain shift risks.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781709" y="4281940"/>
            <a:ext cx="4724426" cy="471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Standardization: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Verify class-id mapping and implement explicit "ignore label" handling in loss functions.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447261" y="6261652"/>
            <a:ext cx="4025348" cy="1490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174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ObjectSegmentationMarsWS25 | Final Project Review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9148232" y="6202017"/>
            <a:ext cx="3115731" cy="208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3"/>
              </a:lnSpc>
              <a:buNone/>
            </a:pPr>
            <a:r>
              <a:rPr lang="en-US" sz="1350" b="1" kern="0" spc="138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MARS EXPLORATION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1240</Words>
  <Application>Microsoft Macintosh PowerPoint</Application>
  <PresentationFormat>Widescreen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Inter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Izmailov, Timur</cp:lastModifiedBy>
  <cp:revision>2</cp:revision>
  <dcterms:created xsi:type="dcterms:W3CDTF">2026-02-07T13:56:15Z</dcterms:created>
  <dcterms:modified xsi:type="dcterms:W3CDTF">2026-02-07T14:01:41Z</dcterms:modified>
</cp:coreProperties>
</file>